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0175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292F"/>
                </a:solidFill>
                <a:latin typeface="Calibri"/>
              </a:rPr>
              <a:t>Bridging CMS Silos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4160520"/>
            <a:ext cx="1828800" cy="2540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8A94A6"/>
                </a:solidFill>
                <a:latin typeface="Calibri"/>
              </a:rPr>
              <a:t>Ayoub  ·  Mohammed  ·  Vishnudev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92F"/>
                </a:solidFill>
                <a:latin typeface="Calibri"/>
              </a:rPr>
              <a:t>The Multi-CMS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3175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206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0F6E8C"/>
                </a:solidFill>
                <a:latin typeface="Calibri"/>
              </a:rPr>
              <a:t>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8A94A6"/>
                </a:solidFill>
                <a:latin typeface="Calibri"/>
              </a:rPr>
              <a:t>of organizations run content across multiple CMS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92F"/>
                </a:solidFill>
                <a:latin typeface="Calibri"/>
              </a:rPr>
              <a:t>Keeping them connected today means manual, repetitive work.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92F"/>
                </a:solidFill>
                <a:latin typeface="Calibri"/>
              </a:rPr>
              <a:t>It doesn't scale, and it doesn't get cheaper with more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i="1" b="1">
                <a:solidFill>
                  <a:srgbClr val="0F6E8C"/>
                </a:solidFill>
                <a:latin typeface="Calibri"/>
              </a:rPr>
              <a:t>If full migration isn't the answer — what 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92F"/>
                </a:solidFill>
                <a:latin typeface="Calibri"/>
              </a:rPr>
              <a:t>A Concrete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3175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6E8C"/>
                </a:solidFill>
                <a:latin typeface="Calibri"/>
              </a:rPr>
              <a:t>WordPress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331720" cy="160020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92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205740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4A6"/>
                </a:solidFill>
                <a:latin typeface="Calibri"/>
              </a:rPr>
              <a:t>POST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22292F"/>
                </a:solidFill>
                <a:latin typeface="Calibri"/>
              </a:rPr>
              <a:t>Burn it with BX54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8A94A6"/>
                </a:solidFill>
                <a:latin typeface="Calibri"/>
              </a:rPr>
              <a:t>The newly developed engraver BX54 uses the most powerful laser…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920240"/>
            <a:ext cx="2331720" cy="160020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92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93392"/>
            <a:ext cx="205740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4A6"/>
                </a:solidFill>
                <a:latin typeface="Calibri"/>
              </a:rPr>
              <a:t>POST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22292F"/>
                </a:solidFill>
                <a:latin typeface="Calibri"/>
              </a:rPr>
              <a:t>Reordering the BX54 Focus Lens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8A94A6"/>
                </a:solidFill>
                <a:latin typeface="Calibri"/>
              </a:rPr>
              <a:t>When reordering the replacement lens for your BX54 engraver…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2331720" cy="160020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92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30752"/>
            <a:ext cx="205740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4A6"/>
                </a:solidFill>
                <a:latin typeface="Calibri"/>
              </a:rPr>
              <a:t>PAGE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22292F"/>
                </a:solidFill>
                <a:latin typeface="Calibri"/>
              </a:rPr>
              <a:t>Veridian Safety Light Curtains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8A94A6"/>
                </a:solidFill>
                <a:latin typeface="Calibri"/>
              </a:rPr>
              <a:t>Veridian Automation Type 4 safety light curtains for…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657600"/>
            <a:ext cx="2331720" cy="160020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92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30752"/>
            <a:ext cx="205740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4A6"/>
                </a:solidFill>
                <a:latin typeface="Calibri"/>
              </a:rPr>
              <a:t>PAGE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22292F"/>
                </a:solidFill>
                <a:latin typeface="Calibri"/>
              </a:rPr>
              <a:t>Veridian Emergency Stop Devices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8A94A6"/>
                </a:solidFill>
                <a:latin typeface="Calibri"/>
              </a:rPr>
              <a:t>Veridian Automation emergency stop pushbuttons and…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8A94A6"/>
                </a:solidFill>
                <a:latin typeface="Calibri"/>
              </a:rPr>
              <a:t>Some posts carry extra custom fields — free-form, not part of the base schema.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1737360"/>
            <a:ext cx="0" cy="3749040"/>
          </a:xfrm>
          <a:prstGeom prst="line">
            <a:avLst/>
          </a:prstGeom>
          <a:ln w="15875">
            <a:solidFill>
              <a:srgbClr val="8A94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74920" y="3429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4A6"/>
                </a:solidFill>
                <a:latin typeface="Calibri"/>
              </a:rPr>
              <a:t>No shared
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600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6E8C"/>
                </a:solidFill>
                <a:latin typeface="Calibri"/>
              </a:rPr>
              <a:t>Strapi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766560" y="1965960"/>
          <a:ext cx="484631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718"/>
                <a:gridCol w="1841601"/>
              </a:tblGrid>
              <a:tr h="304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Aurora BX54 Fiber Laser Engraver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SIS-BX54-ENGR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BX54 Replacement Focus Lens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SIS-BX54-LENS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766560" y="3063240"/>
          <a:ext cx="4846319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718"/>
                <a:gridCol w="1841601"/>
              </a:tblGrid>
              <a:tr h="3429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Organization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IEC 61496-2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IEC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766560" y="3931920"/>
          <a:ext cx="484632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844"/>
                <a:gridCol w="2665476"/>
              </a:tblGrid>
              <a:tr h="3429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Certification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Issuing Body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UL Listed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Underwriters Laboratories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766560" y="48463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8A94A6"/>
                </a:solidFill>
                <a:latin typeface="Calibri"/>
              </a:rPr>
              <a:t>Many-to-many relations — already structured, on its own side.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92F"/>
                </a:solidFill>
                <a:latin typeface="Calibri"/>
              </a:rPr>
              <a:t>Mapping a Field to Its 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3175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6E8C"/>
                </a:solidFill>
                <a:latin typeface="Calibri"/>
              </a:rPr>
              <a:t>WordPress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931920" cy="118872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92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3657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4A6"/>
                </a:solidFill>
                <a:latin typeface="Calibri"/>
              </a:rPr>
              <a:t>POST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22292F"/>
                </a:solidFill>
                <a:latin typeface="Calibri"/>
              </a:rPr>
              <a:t>Burn it with BX54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8A94A6"/>
                </a:solidFill>
                <a:latin typeface="Calibri"/>
              </a:rPr>
              <a:t>The newly developed engraver BX54 uses the most powerful laser…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3931920" cy="1051560"/>
          </a:xfrm>
          <a:prstGeom prst="roundRect">
            <a:avLst/>
          </a:prstGeom>
          <a:solidFill>
            <a:srgbClr val="D9EEF2"/>
          </a:solidFill>
          <a:ln w="15875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8A94A6"/>
                </a:solidFill>
                <a:latin typeface="Calibri"/>
              </a:rPr>
              <a:t>custom field — slug</a:t>
            </a:r>
          </a:p>
          <a:p>
            <a:pPr algn="ctr"/>
            <a:r>
              <a:rPr sz="1800" b="1">
                <a:solidFill>
                  <a:srgbClr val="0F6E8C"/>
                </a:solidFill>
                <a:latin typeface="Calibri"/>
              </a:rPr>
              <a:t>104, 891, 233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3657600"/>
            <a:ext cx="2148840" cy="640080"/>
          </a:xfrm>
          <a:prstGeom prst="rightArrow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6002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6E8C"/>
                </a:solidFill>
                <a:latin typeface="Calibri"/>
              </a:rPr>
              <a:t>Strapi — Product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69480" y="2103120"/>
          <a:ext cx="4297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260"/>
                <a:gridCol w="1074420"/>
              </a:tblGrid>
              <a:tr h="33963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legacyId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Aurora BX54 Fiber Laser Engraver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BX54 Fume Extraction Filter Cartridge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Veridian GL100 Safety Interlock Switch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Veridian ES200 Emergency Stop Pushbutton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618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Veridian LC900 Type 4 Safety Light Curtain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734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BX54 Replacement Focus Lens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891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 b="1">
                <a:solidFill>
                  <a:srgbClr val="0F6E8C"/>
                </a:solidFill>
                <a:latin typeface="Calibri"/>
              </a:rPr>
              <a:t>Goal: an LLM identifies which system, table, and column this value belongs 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92F"/>
                </a:solidFill>
                <a:latin typeface="Calibri"/>
              </a:rPr>
              <a:t>The End Product: A Mapping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3175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6E8C"/>
                </a:solidFill>
                <a:latin typeface="Calibri"/>
              </a:rPr>
              <a:t>WordPress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533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6E8C"/>
                </a:solidFill>
                <a:latin typeface="Calibri"/>
              </a:rPr>
              <a:t>Strapi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743200" cy="77724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2292F"/>
                </a:solidFill>
                <a:latin typeface="Calibri"/>
              </a:rPr>
              <a:t>Post: Burn it with BX54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91640"/>
            <a:ext cx="3200400" cy="68580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92F"/>
                </a:solidFill>
                <a:latin typeface="Calibri"/>
              </a:rPr>
              <a:t>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606040"/>
            <a:ext cx="3200400" cy="68580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92F"/>
                </a:solidFill>
                <a:latin typeface="Calibri"/>
              </a:rPr>
              <a:t>Standard / Certification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566160" y="2039112"/>
            <a:ext cx="4572000" cy="274320"/>
          </a:xfrm>
          <a:prstGeom prst="line">
            <a:avLst/>
          </a:prstGeom>
          <a:ln w="1587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2313432"/>
            <a:ext cx="4572000" cy="640080"/>
          </a:xfrm>
          <a:prstGeom prst="line">
            <a:avLst/>
          </a:prstGeom>
          <a:ln w="15875">
            <a:solidFill>
              <a:srgbClr val="8A94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0" y="17830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F6E8C"/>
                </a:solidFill>
                <a:latin typeface="Calibri"/>
              </a:rPr>
              <a:t>1.0 — 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632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A94A6"/>
                </a:solidFill>
                <a:latin typeface="Calibri"/>
              </a:rPr>
              <a:t>0.3 — escalated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794760"/>
          <a:ext cx="1106423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3208629"/>
                <a:gridCol w="2212848"/>
                <a:gridCol w="1327708"/>
                <a:gridCol w="2212848"/>
              </a:tblGrid>
              <a:tr h="4343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5400" marB="25400">
                    <a:solidFill>
                      <a:srgbClr val="0F6E8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post.slug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values match product.legacyId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product.legacyId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6E8C"/>
                          </a:solidFill>
                          <a:latin typeface="Calibri"/>
                        </a:rPr>
                        <a:t>Value Match</a:t>
                      </a:r>
                    </a:p>
                  </a:txBody>
                  <a:tcPr marT="12700" marB="12700">
                    <a:solidFill>
                      <a:srgbClr val="D9EE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post body mentions “bx54”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2+ candidate products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— (escalated)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Human Review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post body mentions “safety”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no strong candidate found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— (no match)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8A94A6"/>
                          </a:solidFill>
                          <a:latin typeface="Calibri"/>
                        </a:rPr>
                        <a:t>LLM Judgment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b="1">
                <a:solidFill>
                  <a:srgbClr val="0F6E8C"/>
                </a:solidFill>
                <a:latin typeface="Calibri"/>
              </a:rPr>
              <a:t>Every row is a documented semantic connection — including honest “no match”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8A94A6"/>
                </a:solidFill>
                <a:latin typeface="Calibri"/>
              </a:rPr>
              <a:t>This table — not the two content systems — is the durable, reusable record of how they relate.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92F"/>
                </a:solidFill>
                <a:latin typeface="Calibri"/>
              </a:rPr>
              <a:t>Beyond Cleanup: Catching Compliance Drift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3175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502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i="1">
                <a:solidFill>
                  <a:srgbClr val="8A94A6"/>
                </a:solidFill>
                <a:latin typeface="Calibri"/>
              </a:rPr>
              <a:t>Illustrative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206240" cy="210312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92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39319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4A6"/>
                </a:solidFill>
                <a:latin typeface="Calibri"/>
              </a:rPr>
              <a:t>BLOG POST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22292F"/>
                </a:solidFill>
                <a:latin typeface="Calibri"/>
              </a:rPr>
              <a:t>5 Reasons to Upgrade Your Machine Guarding</a:t>
            </a:r>
          </a:p>
          <a:p>
            <a:pPr>
              <a:spcBef>
                <a:spcPts val="300"/>
              </a:spcBef>
            </a:pPr>
            <a:r>
              <a:rPr sz="1000" i="1">
                <a:solidFill>
                  <a:srgbClr val="8A94A6"/>
                </a:solidFill>
                <a:latin typeface="Calibri"/>
              </a:rPr>
              <a:t>“...our light curtains are CE Marked, tested under our original 2016 certification, and UL Listed...”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2103120" cy="731520"/>
          </a:xfrm>
          <a:prstGeom prst="roundRect">
            <a:avLst/>
          </a:prstGeom>
          <a:solidFill>
            <a:srgbClr val="D9EEF2"/>
          </a:solidFill>
          <a:ln w="15875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8A94A6"/>
                </a:solidFill>
                <a:latin typeface="Calibri"/>
              </a:rPr>
              <a:t>cited certification year</a:t>
            </a:r>
          </a:p>
          <a:p>
            <a:pPr algn="ctr"/>
            <a:r>
              <a:rPr sz="1800" b="1">
                <a:solidFill>
                  <a:srgbClr val="0F6E8C"/>
                </a:solidFill>
                <a:latin typeface="Calibri"/>
              </a:rPr>
              <a:t>2016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4206240" cy="2103120"/>
          </a:xfrm>
          <a:prstGeom prst="roundRect">
            <a:avLst/>
          </a:prstGeom>
          <a:solidFill>
            <a:srgbClr val="D9EEF2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92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27632"/>
            <a:ext cx="39319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6E8C"/>
                </a:solidFill>
                <a:latin typeface="Calibri"/>
              </a:rPr>
              <a:t>Strapi: CE Marked (current record)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2292F"/>
                </a:solidFill>
                <a:latin typeface="Calibri"/>
              </a:rPr>
              <a:t>• Issuing body: EU (CE Marking Directive)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22292F"/>
                </a:solidFill>
                <a:latin typeface="Calibri"/>
              </a:rPr>
              <a:t>• Status: recertified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794760"/>
            <a:ext cx="2103120" cy="731520"/>
          </a:xfrm>
          <a:prstGeom prst="roundRect">
            <a:avLst/>
          </a:prstGeom>
          <a:solidFill>
            <a:srgbClr val="D9EEF2"/>
          </a:solidFill>
          <a:ln w="15875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8A94A6"/>
                </a:solidFill>
                <a:latin typeface="Calibri"/>
              </a:rPr>
              <a:t>system-of-record status</a:t>
            </a:r>
          </a:p>
          <a:p>
            <a:pPr algn="ctr"/>
            <a:r>
              <a:rPr sz="1800" b="1">
                <a:solidFill>
                  <a:srgbClr val="0F6E8C"/>
                </a:solidFill>
                <a:latin typeface="Calibri"/>
              </a:rPr>
              <a:t>2024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606040"/>
            <a:ext cx="2468880" cy="0"/>
          </a:xfrm>
          <a:prstGeom prst="line">
            <a:avLst/>
          </a:prstGeom>
          <a:ln w="15875">
            <a:solidFill>
              <a:srgbClr val="B142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4632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1422C"/>
                </a:solidFill>
                <a:latin typeface="Calibri"/>
              </a:rPr>
              <a:t>⚠ 2016 vs. 2024 —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b="1">
                <a:solidFill>
                  <a:srgbClr val="0F6E8C"/>
                </a:solidFill>
                <a:latin typeface="Calibri"/>
              </a:rPr>
              <a:t>Flagged the moment public content and the system of record disagree.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8A94A6"/>
                </a:solidFill>
                <a:latin typeface="Calibri"/>
              </a:rPr>
              <a:t>Escalated for compliance review — not auto-corrected.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92F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3175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F6E8C"/>
                </a:solidFill>
                <a:latin typeface="Calibri"/>
              </a:rPr>
              <a:t>▸ </a:t>
            </a:r>
            <a:r>
              <a:rPr sz="1900">
                <a:solidFill>
                  <a:srgbClr val="22292F"/>
                </a:solidFill>
                <a:latin typeface="Calibri"/>
              </a:rPr>
              <a:t>One mapping layer, not one migration — bridging WordPress and Strapi as they 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F6E8C"/>
                </a:solidFill>
                <a:latin typeface="Calibri"/>
              </a:rPr>
              <a:t>▸ </a:t>
            </a:r>
            <a:r>
              <a:rPr sz="1900">
                <a:solidFill>
                  <a:srgbClr val="22292F"/>
                </a:solidFill>
                <a:latin typeface="Calibri"/>
              </a:rPr>
              <a:t>Deterministic where the data allows it, LLM judgment where it doesn't, a human in the loop when even that isn't enough.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F6E8C"/>
                </a:solidFill>
                <a:latin typeface="Calibri"/>
              </a:rPr>
              <a:t>▸ </a:t>
            </a:r>
            <a:r>
              <a:rPr sz="1900">
                <a:solidFill>
                  <a:srgbClr val="22292F"/>
                </a:solidFill>
                <a:latin typeface="Calibri"/>
              </a:rPr>
              <a:t>The same table that cleans up product references also catches compliance drift.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5166360"/>
            <a:ext cx="1828800" cy="25400"/>
          </a:xfrm>
          <a:prstGeom prst="rect">
            <a:avLst/>
          </a:prstGeom>
          <a:solidFill>
            <a:srgbClr val="0F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 b="1">
                <a:solidFill>
                  <a:srgbClr val="0F6E8C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8A94A6"/>
                </a:solidFill>
                <a:latin typeface="Calibri"/>
              </a:rPr>
              <a:t>Ayoub  ·  Mohammed  ·  Vishnudev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